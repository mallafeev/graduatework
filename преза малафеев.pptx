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61" r:id="rId6"/>
    <p:sldId id="260" r:id="rId7"/>
    <p:sldId id="262" r:id="rId8"/>
    <p:sldId id="263" r:id="rId9"/>
    <p:sldId id="266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14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3C38-B0D1-40AD-BF4B-824B65961175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FC5B9-3DE0-4DB9-A8F9-88E1A0D71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94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FC5B9-3DE0-4DB9-A8F9-88E1A0D7166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05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FC5B9-3DE0-4DB9-A8F9-88E1A0D7166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05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FC5B9-3DE0-4DB9-A8F9-88E1A0D7166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05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FC5B9-3DE0-4DB9-A8F9-88E1A0D7166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0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B4029-9375-48C1-9250-91A304C01FA0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A704-CB26-4C85-82F8-F4ACBCDCA894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DD535-4535-4DF2-BC04-148A1E2336A1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598DB-DC4B-4476-B77E-0D4E7CFBE718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FF8-6EBD-4190-B676-6EAC0C7D3A03}" type="datetime1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DA018-66A6-4AE3-86E7-5912D9EF452B}" type="datetime1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3D2C-B303-4306-9664-31C3107777EF}" type="datetime1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B2B0C-735B-48DD-A281-84EEE728E4A7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97630-AF09-4610-9DC7-C25EC95930D8}" type="datetime1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24F4-A497-4515-A2AC-9DCE0D1BA3FD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0AB10-1329-4D6A-8CD8-D8C1248076A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C28CC-7DCB-43B1-8B0A-EE3665FD591A}" type="datetime1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57808" y="2037333"/>
            <a:ext cx="8028384" cy="1656184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модуля алгоритма случайного леса для оценки достоверности филогенетических деревьев на языке Python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72200" y="4365104"/>
            <a:ext cx="2627784" cy="648072"/>
          </a:xfrm>
        </p:spPr>
        <p:txBody>
          <a:bodyPr>
            <a:noAutofit/>
          </a:bodyPr>
          <a:lstStyle/>
          <a:p>
            <a:pPr algn="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Малафеев Л.С.</a:t>
            </a:r>
            <a:b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ПИбд-41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277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12474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7524" y="1340768"/>
            <a:ext cx="8568952" cy="331236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Бутстреп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-анализ является стандартным методом оценки достоверности филогенетических деревьев, однако интерпретация полученных значений не всегда однозначна, а устойчивость оценок зависит от свойств набора данных и выбранных параметров анализа. Основным недостатком метода являются высокие вычислительные затраты, связанные с необходимостью построения 100-500 реплик деревьев. Применение методов машинного обучения позволяет учитывать множественные признаки данных одновременно и получать более точную оценку достоверности при значительном снижении времени вычислений.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42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18D5C-E936-8E75-24C6-8D2274BE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104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F44459-9F61-AA39-B16C-33F09CA0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C6AF187-15CC-D2B7-2427-DA6A9BB87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56370"/>
              </p:ext>
            </p:extLst>
          </p:nvPr>
        </p:nvGraphicFramePr>
        <p:xfrm>
          <a:off x="1043608" y="980728"/>
          <a:ext cx="7056783" cy="4765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24050">
                  <a:extLst>
                    <a:ext uri="{9D8B030D-6E8A-4147-A177-3AD203B41FA5}">
                      <a16:colId xmlns:a16="http://schemas.microsoft.com/office/drawing/2014/main" val="3853951984"/>
                    </a:ext>
                  </a:extLst>
                </a:gridCol>
                <a:gridCol w="580341">
                  <a:extLst>
                    <a:ext uri="{9D8B030D-6E8A-4147-A177-3AD203B41FA5}">
                      <a16:colId xmlns:a16="http://schemas.microsoft.com/office/drawing/2014/main" val="3515785837"/>
                    </a:ext>
                  </a:extLst>
                </a:gridCol>
                <a:gridCol w="646166">
                  <a:extLst>
                    <a:ext uri="{9D8B030D-6E8A-4147-A177-3AD203B41FA5}">
                      <a16:colId xmlns:a16="http://schemas.microsoft.com/office/drawing/2014/main" val="3130340093"/>
                    </a:ext>
                  </a:extLst>
                </a:gridCol>
                <a:gridCol w="736173">
                  <a:extLst>
                    <a:ext uri="{9D8B030D-6E8A-4147-A177-3AD203B41FA5}">
                      <a16:colId xmlns:a16="http://schemas.microsoft.com/office/drawing/2014/main" val="2209952108"/>
                    </a:ext>
                  </a:extLst>
                </a:gridCol>
                <a:gridCol w="835584">
                  <a:extLst>
                    <a:ext uri="{9D8B030D-6E8A-4147-A177-3AD203B41FA5}">
                      <a16:colId xmlns:a16="http://schemas.microsoft.com/office/drawing/2014/main" val="561892698"/>
                    </a:ext>
                  </a:extLst>
                </a:gridCol>
                <a:gridCol w="665646">
                  <a:extLst>
                    <a:ext uri="{9D8B030D-6E8A-4147-A177-3AD203B41FA5}">
                      <a16:colId xmlns:a16="http://schemas.microsoft.com/office/drawing/2014/main" val="1784124343"/>
                    </a:ext>
                  </a:extLst>
                </a:gridCol>
                <a:gridCol w="1268823">
                  <a:extLst>
                    <a:ext uri="{9D8B030D-6E8A-4147-A177-3AD203B41FA5}">
                      <a16:colId xmlns:a16="http://schemas.microsoft.com/office/drawing/2014/main" val="458011919"/>
                    </a:ext>
                  </a:extLst>
                </a:gridCol>
              </a:tblGrid>
              <a:tr h="4920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Приложение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MEGA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UGENE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 err="1">
                          <a:effectLst/>
                        </a:rPr>
                        <a:t>PhyML</a:t>
                      </a:r>
                      <a:r>
                        <a:rPr lang="ru-RU" sz="1100" dirty="0">
                          <a:effectLst/>
                        </a:rPr>
                        <a:t> (</a:t>
                      </a:r>
                      <a:r>
                        <a:rPr lang="ru-RU" sz="1100" dirty="0" err="1">
                          <a:effectLst/>
                        </a:rPr>
                        <a:t>aLRT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IQ-TREE (</a:t>
                      </a:r>
                      <a:r>
                        <a:rPr lang="ru-RU" sz="1100" dirty="0" err="1">
                          <a:effectLst/>
                        </a:rPr>
                        <a:t>UFBoot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 err="1">
                          <a:effectLst/>
                        </a:rPr>
                        <a:t>RAxML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Разрабатываемый модуль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4083820"/>
                  </a:ext>
                </a:extLst>
              </a:tr>
              <a:tr h="4920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Построение и базовая оценка дерева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903966"/>
                  </a:ext>
                </a:extLst>
              </a:tr>
              <a:tr h="4787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Различные методы построений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4270833"/>
                  </a:ext>
                </a:extLst>
              </a:tr>
              <a:tr h="4920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>
                          <a:effectLst/>
                        </a:rPr>
                        <a:t>Анализ качества данных и признаков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5489259"/>
                  </a:ext>
                </a:extLst>
              </a:tr>
              <a:tr h="4920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ML-предсказание поддержки с интерпретацией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9915419"/>
                  </a:ext>
                </a:extLst>
              </a:tr>
              <a:tr h="75197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Анализ информативных признаков</a:t>
                      </a:r>
                      <a:r>
                        <a:rPr lang="en-US" sz="1100" dirty="0">
                          <a:effectLst/>
                        </a:rPr>
                        <a:t> (branch length, signal strength, alignment quality </a:t>
                      </a:r>
                      <a:r>
                        <a:rPr lang="ru-RU" sz="1100" dirty="0">
                          <a:effectLst/>
                        </a:rPr>
                        <a:t>и </a:t>
                      </a:r>
                      <a:r>
                        <a:rPr lang="ru-RU" sz="1100" dirty="0" err="1">
                          <a:effectLst/>
                        </a:rPr>
                        <a:t>др</a:t>
                      </a:r>
                      <a:r>
                        <a:rPr lang="en-US" sz="1100" dirty="0">
                          <a:effectLst/>
                        </a:rPr>
                        <a:t>.)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2973349"/>
                  </a:ext>
                </a:extLst>
              </a:tr>
              <a:tr h="31471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Визуализация результатов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9148391"/>
                  </a:ext>
                </a:extLst>
              </a:tr>
              <a:tr h="4787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Выбор и настройка пользовательских признаков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232691"/>
                  </a:ext>
                </a:extLst>
              </a:tr>
              <a:tr h="4920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100" dirty="0">
                          <a:effectLst/>
                        </a:rPr>
                        <a:t>Поддержка русского языка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−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5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61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97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12474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87524" y="1340768"/>
            <a:ext cx="8568952" cy="2448272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качества и скорости оценки достоверности филогенетического дерева и надёжности ветвей путём применения алгоритма случайного леса для многомерного анализа молекулярных последовательностей и параметров построенного дерева.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52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12474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1764" y="1340768"/>
            <a:ext cx="8820472" cy="3960440"/>
          </a:xfrm>
        </p:spPr>
        <p:txBody>
          <a:bodyPr>
            <a:noAutofit/>
          </a:bodyPr>
          <a:lstStyle/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методов и программных средств для решения поставленной задачи.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обучающую выборку.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обучить модель машинного обучения.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графический интерфейс пользователя.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модели.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результаты модели с традиционными методами анализа.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выводы по результатам исследования.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эксплуатационную и отчётную документацию.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2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12474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системе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504" y="1340768"/>
            <a:ext cx="8568952" cy="3096344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и валидация файлов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филогенетического дерева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биологических признаков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признаков для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аналзи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модели машинного обучения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Предсказание поддержки узлов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деревьев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ошибок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51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124744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1124744"/>
            <a:ext cx="8280920" cy="4176463"/>
          </a:xfrm>
        </p:spPr>
        <p:txBody>
          <a:bodyPr>
            <a:noAutofit/>
          </a:bodyPr>
          <a:lstStyle/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 приложения: настольное приложение (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 графический интерфейс на PyQt5.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Биоинформатические библиотеки: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Biopython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DendroPy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обучение: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(Random Forest,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SciPy.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Matplotlib.</a:t>
            </a:r>
          </a:p>
          <a:p>
            <a:pPr marL="342900" indent="-342900" algn="l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данных: </a:t>
            </a:r>
            <a:r>
              <a:rPr 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TreeBase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NCBI GenBank.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10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485583" y="332656"/>
            <a:ext cx="3635896" cy="112474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EE5C62-0DC2-B2A7-7D8D-5C9C78CA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73" y="262089"/>
            <a:ext cx="5452133" cy="633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02272-E338-7F62-8356-9FD3FF3342FC}"/>
              </a:ext>
            </a:extLst>
          </p:cNvPr>
          <p:cNvSpPr txBox="1"/>
          <p:nvPr/>
        </p:nvSpPr>
        <p:spPr>
          <a:xfrm>
            <a:off x="5623606" y="1628800"/>
            <a:ext cx="33489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компоненты системы, их взаимодействие и используемые библиотеки</a:t>
            </a:r>
          </a:p>
        </p:txBody>
      </p:sp>
    </p:spTree>
    <p:extLst>
      <p:ext uri="{BB962C8B-B14F-4D97-AF65-F5344CB8AC3E}">
        <p14:creationId xmlns:p14="http://schemas.microsoft.com/office/powerpoint/2010/main" val="356443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B0CC8-718E-73D0-9EE6-182B5886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6B81CE-D4F8-038A-A17A-05B3528E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pic>
        <p:nvPicPr>
          <p:cNvPr id="10" name="Рисунок 9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FA53E3-10CD-B9E9-7EA8-6EE9655C3B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47"/>
          <a:stretch>
            <a:fillRect/>
          </a:stretch>
        </p:blipFill>
        <p:spPr>
          <a:xfrm>
            <a:off x="403007" y="846138"/>
            <a:ext cx="8337986" cy="546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05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548</TotalTime>
  <Words>388</Words>
  <Application>Microsoft Office PowerPoint</Application>
  <PresentationFormat>Экран (4:3)</PresentationFormat>
  <Paragraphs>113</Paragraphs>
  <Slides>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Тема Office</vt:lpstr>
      <vt:lpstr>Разработка модуля алгоритма случайного леса для оценки достоверности филогенетических деревьев на языке Python</vt:lpstr>
      <vt:lpstr>Актуальность</vt:lpstr>
      <vt:lpstr>Аналоги</vt:lpstr>
      <vt:lpstr>Цель работы</vt:lpstr>
      <vt:lpstr>Задачи</vt:lpstr>
      <vt:lpstr>Требования к системе</vt:lpstr>
      <vt:lpstr>Технологии</vt:lpstr>
      <vt:lpstr>Диаграмма компонентов</vt:lpstr>
      <vt:lpstr>Реализация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pasha</dc:creator>
  <cp:lastModifiedBy>Леонид Малафеев</cp:lastModifiedBy>
  <cp:revision>40</cp:revision>
  <dcterms:created xsi:type="dcterms:W3CDTF">2026-02-11T12:55:25Z</dcterms:created>
  <dcterms:modified xsi:type="dcterms:W3CDTF">2026-02-12T12:55:07Z</dcterms:modified>
</cp:coreProperties>
</file>